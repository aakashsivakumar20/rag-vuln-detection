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097280"/>
            <a:ext cx="1188720" cy="82296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097280"/>
            <a:ext cx="1828800" cy="402336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326880" y="1920240"/>
            <a:ext cx="1554480" cy="4572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1920240"/>
            <a:ext cx="457200" cy="13716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1920240"/>
            <a:ext cx="640080" cy="32004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2377440"/>
            <a:ext cx="2011680" cy="9144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8778240" y="2377440"/>
            <a:ext cx="548640" cy="13716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0" y="2377440"/>
            <a:ext cx="2194560" cy="27432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332720" y="3291840"/>
            <a:ext cx="1005840" cy="109728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3749040"/>
            <a:ext cx="365760" cy="155448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0" y="3749040"/>
            <a:ext cx="2743200" cy="137160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4389120"/>
            <a:ext cx="1188720" cy="731520"/>
          </a:xfrm>
          <a:prstGeom prst="line">
            <a:avLst/>
          </a:prstGeom>
          <a:noFill/>
          <a:ln w="12700">
            <a:solidFill>
              <a:srgbClr val="3A5A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10344" y="10149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99064" y="18379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6" name="Shape 14"/>
          <p:cNvSpPr/>
          <p:nvPr/>
        </p:nvSpPr>
        <p:spPr>
          <a:xfrm>
            <a:off x="9244584" y="22951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56264" y="320954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8695944" y="36667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50424" y="430682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0" name="Shape 18"/>
          <p:cNvSpPr/>
          <p:nvPr/>
        </p:nvSpPr>
        <p:spPr>
          <a:xfrm>
            <a:off x="9061704" y="522122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39144" y="5038344"/>
            <a:ext cx="164592" cy="164592"/>
          </a:xfrm>
          <a:prstGeom prst="ellipse">
            <a:avLst/>
          </a:prstGeom>
          <a:solidFill>
            <a:srgbClr val="3A5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6400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SCHOOL OF COMPUTER SCIENCE AND ENGINEERING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1371600"/>
            <a:ext cx="8778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Secure Code Analysis and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Vulnerability Detection using Retrieval-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Augmented Generation (RAG)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40080" y="379476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— Project I   |   Review 3 (Panel Review)   |   16 September 2026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251960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519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 modules implemented · running end-to-end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00600"/>
            <a:ext cx="7863840" cy="18288"/>
          </a:xfrm>
          <a:prstGeom prst="rect">
            <a:avLst/>
          </a:prstGeom>
          <a:solidFill>
            <a:srgbClr val="3A5A8C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937760"/>
            <a:ext cx="8778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Aakash Sivakumar — 23BCE5119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Udhay Anand Pandiyan — 23BCE1793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60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Jenila Livingston L 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1447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Programme: B.Tech. Computer Science and Engineering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1907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0020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System &amp; Architecture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212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designed at Review 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9400" y="171907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52360" y="17190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52360" y="221284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"~50% implementation" means, module by module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13639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00200" y="3136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Walkthrough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→ chunking → embedding → KB → retrieval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9718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313639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452360" y="3136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Technical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5236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embedding-model constraint, and how we resolved it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5537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00200" y="45537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Obtained So Far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00200" y="50474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Real-repo run, labeled benchmark, automated tests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0" y="43891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EAF3F8"/>
          </a:solidFill>
          <a:ln/>
          <a:effectLst>
            <a:outerShdw sx="100000" sy="100000" kx="0" ky="0" algn="bl" rotWithShape="0" blurRad="76200" dist="25400" dir="5400000">
              <a:srgbClr val="9FB2C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29400" y="45537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D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452360" y="455371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Plan for Review 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52360" y="504748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next, and why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Designed System (Review 2)</a:t>
            </a:r>
            <a:endParaRPr lang="en-US" sz="2800" dirty="0"/>
          </a:p>
        </p:txBody>
      </p:sp>
      <p:pic>
        <p:nvPicPr>
          <p:cNvPr id="4" name="Image 0" descr="../design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234440"/>
            <a:ext cx="566928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554480"/>
            <a:ext cx="2514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modules across five layers: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Processing (ingest, chunk, embed) → AI/Retrieval (dual-context RAG + LLM analysis) → Scoring &amp; Remediation → Persistence &amp; Dashboard.
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asked for roughly half of this working end-to-end against real code.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REVIEW 3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10 Modules — Implemented and Running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466344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6537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Ingestion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Cloned &amp; filtered a real public repo (§4.3)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Parsing &amp; Chunking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Tree-sitter, function/class-level, tested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Service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model substitution + measured fix (§4.2)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Knowledge Base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entries: OWASP Top 10:2025 + CWE Top 25:2025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Retrieval Orchestrator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Dual-context retrieval demoed &amp; benchmarked (§4.4)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 Scoring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Rule-based/CVSS-inspired, margin-calibrated confidence (§4.8)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Store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— documented substitute for MongoDB (§4.8)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 Generation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Template-based, CWE-keyed, 7/25 categories (§4.8)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Security Analysis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C97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4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 API provisioning — planned next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5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React.js UI — final-review scope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Implemented Pipeline, Step by Step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61058" cy="393192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pic>
        <p:nvPicPr>
          <p:cNvPr id="5" name="Image 0" descr="icon_Fa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137" y="1920240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468880"/>
            <a:ext cx="1786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2788920"/>
            <a:ext cx="17867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3291840"/>
            <a:ext cx="173187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git clone; filter vendored/binary/oversize/unsupported-language files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2609698" y="342900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810866" y="1691640"/>
            <a:ext cx="2061058" cy="393192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pic>
        <p:nvPicPr>
          <p:cNvPr id="11" name="Image 1" descr="icon_FaListU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362" y="1920240"/>
            <a:ext cx="512064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48026" y="2468880"/>
            <a:ext cx="1786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48026" y="2788920"/>
            <a:ext cx="17867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2975458" y="3291840"/>
            <a:ext cx="173187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 parse → function/class-level chunks (Python, JS, TS)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871923" y="342900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3091" y="1691640"/>
            <a:ext cx="2061058" cy="393192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pic>
        <p:nvPicPr>
          <p:cNvPr id="17" name="Image 2" descr="icon_Fa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588" y="1920240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10251" y="2468880"/>
            <a:ext cx="1786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210251" y="2788920"/>
            <a:ext cx="17867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237683" y="3291840"/>
            <a:ext cx="173187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IDF-weighted GloVe averaging, camelCase/snake_case-aware tokenizer</a:t>
            </a:r>
            <a:endParaRPr lang="en-US" sz="980" dirty="0"/>
          </a:p>
        </p:txBody>
      </p:sp>
      <p:sp>
        <p:nvSpPr>
          <p:cNvPr id="21" name="Text 16"/>
          <p:cNvSpPr/>
          <p:nvPr/>
        </p:nvSpPr>
        <p:spPr>
          <a:xfrm>
            <a:off x="7134149" y="342900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7335317" y="1691640"/>
            <a:ext cx="2061058" cy="393192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pic>
        <p:nvPicPr>
          <p:cNvPr id="23" name="Image 3" descr="icon_Fa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9814" y="1920240"/>
            <a:ext cx="512064" cy="51206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472477" y="2468880"/>
            <a:ext cx="1786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7472477" y="2788920"/>
            <a:ext cx="17867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KB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499909" y="3291840"/>
            <a:ext cx="173187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10:2025 + CWE Top 25:2025 → 35-entry FAISS knowledge base</a:t>
            </a:r>
            <a:endParaRPr lang="en-US" sz="980" dirty="0"/>
          </a:p>
        </p:txBody>
      </p:sp>
      <p:sp>
        <p:nvSpPr>
          <p:cNvPr id="27" name="Text 21"/>
          <p:cNvSpPr/>
          <p:nvPr/>
        </p:nvSpPr>
        <p:spPr>
          <a:xfrm>
            <a:off x="9396374" y="342900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9597542" y="1691640"/>
            <a:ext cx="2061058" cy="3931920"/>
          </a:xfrm>
          <a:prstGeom prst="roundRect">
            <a:avLst>
              <a:gd name="adj" fmla="val 4437"/>
            </a:avLst>
          </a:prstGeom>
          <a:solidFill>
            <a:srgbClr val="065A82"/>
          </a:solidFill>
          <a:ln/>
        </p:spPr>
      </p:sp>
      <p:pic>
        <p:nvPicPr>
          <p:cNvPr id="29" name="Image 4" descr="icon_Fa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2039" y="1920240"/>
            <a:ext cx="512064" cy="51206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734702" y="2468880"/>
            <a:ext cx="1786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9734702" y="2788920"/>
            <a:ext cx="17867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9762134" y="3291840"/>
            <a:ext cx="173187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Dual-context: nearest repo code + nearest security-KB entries, per chunk</a:t>
            </a:r>
            <a:endParaRPr lang="en-US" sz="980" dirty="0"/>
          </a:p>
        </p:txBody>
      </p:sp>
      <p:sp>
        <p:nvSpPr>
          <p:cNvPr id="33" name="Text 26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stages run against real code, not synthetic examples — see Results (slides 9–11).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TECHNICAL ACCURACY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Constraint, and How We Resolved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DE8"/>
          </a:solidFill>
          <a:ln/>
        </p:spPr>
      </p:sp>
      <p:pic>
        <p:nvPicPr>
          <p:cNvPr id="5" name="Image 0" descr="icon_FaExclamationTria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build environment's network policy blocks Hugging Face Hub and Stanford NLP's file host — confirmed by direct connection tests — which is where the "code-specialised embedding model" named in our proposal is normally downloaded from.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/>
        </p:spPr>
      </p:sp>
      <p:pic>
        <p:nvPicPr>
          <p:cNvPr id="8" name="Image 1" descr="icon_Fa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700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GitHub-hosted distribution was reachable, so we substituted IDF-weighted averaged GloVe word vectors (glove-wiki-gigaword-100, via gensim's GitHub-hosted gensim-data) — a genuine pretrained embedding, documented everywhere it matters, confined to one module.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3794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we found, measured, and fixed — not just claimed to fix: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42519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BEDE8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43891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(plain averaging)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77240" y="47548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averaging retrieved CWE-22 (Path Traversal) above the correct CWE-89 (SQL Injection) on a classic SQLi snippet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shared tokens ("select", "user") diluted the average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72200" y="42519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EAF3F8"/>
          </a:solidFill>
          <a:ln/>
        </p:spPr>
      </p:sp>
      <p:sp>
        <p:nvSpPr>
          <p:cNvPr id="15" name="Text 11"/>
          <p:cNvSpPr/>
          <p:nvPr/>
        </p:nvSpPr>
        <p:spPr>
          <a:xfrm>
            <a:off x="6400800" y="43891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(IDF-weighted) — 54.5% → 63.6% top-1 accuracy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400800" y="47548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IDF weighting over the KB corpus + camelCase/snake_case identifier splitting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 the full 22-snippet benchmark to measure the actual effect, not assume it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Security Knowledge Base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251960"/>
          </a:xfrm>
          <a:prstGeom prst="roundRect">
            <a:avLst>
              <a:gd name="adj" fmla="val 2778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 entries indexed and retrievable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+ 25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617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10:2025 categories + CWE Top 25:2025 weaknesses</a:t>
            </a:r>
            <a:endParaRPr lang="en-US" sz="1100" dirty="0"/>
          </a:p>
        </p:txBody>
      </p:sp>
      <p:pic>
        <p:nvPicPr>
          <p:cNvPr id="9" name="Image 0" descr="icon_Fa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645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846320" y="158191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current standards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1947672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directly from top10.owasp.org/2025 and cwe.mitre.org/top25/archive/2025 — not paraphrased from memory</a:t>
            </a:r>
            <a:endParaRPr lang="en-US" sz="1100" dirty="0"/>
          </a:p>
        </p:txBody>
      </p:sp>
      <p:pic>
        <p:nvPicPr>
          <p:cNvPr id="12" name="Image 1" descr="icon_FaSit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74320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46320" y="267919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entries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846320" y="3044952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entry: rank, CWE-ID, name, mapped OWASP category, description, example vulnerable pattern</a:t>
            </a:r>
            <a:endParaRPr lang="en-US" sz="1100" dirty="0"/>
          </a:p>
        </p:txBody>
      </p:sp>
      <p:pic>
        <p:nvPicPr>
          <p:cNvPr id="15" name="Image 2" descr="icon_Fa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84048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377647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retrieval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846320" y="4142232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Sanity-checked on 4 classic weakness types (SQLi, command injection, path traversal, deserialization) — all correct at rank 1</a:t>
            </a:r>
            <a:endParaRPr lang="en-US" sz="1100" dirty="0"/>
          </a:p>
        </p:txBody>
      </p:sp>
      <p:pic>
        <p:nvPicPr>
          <p:cNvPr id="18" name="Image 3" descr="icon_Fa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9377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46320" y="4873752"/>
            <a:ext cx="6720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 note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846320" y="5239512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CWE→OWASP mapping is this project's own best-fit judgment, documented as such — not claimed as an official crosswalk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Extending the Pipeline: Severity, Storage, Remediation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065A82"/>
          </a:solidFill>
          <a:ln/>
        </p:spPr>
      </p:sp>
      <p:pic>
        <p:nvPicPr>
          <p:cNvPr id="5" name="Image 0" descr="icon_FaExclamationTria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755648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26771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25420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294436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Rule-based/CVSS-inspired band + score, downgraded when retrieval margin is below a calibrated threshold (0.015)</a:t>
            </a:r>
            <a:endParaRPr lang="en-US" sz="960" dirty="0"/>
          </a:p>
        </p:txBody>
      </p:sp>
      <p:sp>
        <p:nvSpPr>
          <p:cNvPr id="9" name="Text 6"/>
          <p:cNvSpPr/>
          <p:nvPr/>
        </p:nvSpPr>
        <p:spPr>
          <a:xfrm>
            <a:off x="4069080" y="251917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4340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065A82"/>
          </a:solidFill>
          <a:ln/>
        </p:spPr>
      </p:sp>
      <p:pic>
        <p:nvPicPr>
          <p:cNvPr id="11" name="Image 1" descr="icon_Fa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6" y="1755648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26771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480560" y="25420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26280" y="294436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findings store (documented substitute for MongoDB — no server package installable in the build sandbox)</a:t>
            </a:r>
            <a:endParaRPr lang="en-US" sz="960" dirty="0"/>
          </a:p>
        </p:txBody>
      </p:sp>
      <p:sp>
        <p:nvSpPr>
          <p:cNvPr id="15" name="Text 11"/>
          <p:cNvSpPr/>
          <p:nvPr/>
        </p:nvSpPr>
        <p:spPr>
          <a:xfrm>
            <a:off x="7863840" y="251917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13816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065A82"/>
          </a:solidFill>
          <a:ln/>
        </p:spPr>
      </p:sp>
      <p:pic>
        <p:nvPicPr>
          <p:cNvPr id="17" name="Image 2" descr="icon_Fa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636" y="1755648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75320" y="226771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275320" y="25420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21040" y="2944368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Template-based, CWE-keyed before/after fix — 7 of 25 categories covered; developer-reviewed, never auto-applied</a:t>
            </a:r>
            <a:endParaRPr lang="en-US" sz="960" dirty="0"/>
          </a:p>
        </p:txBody>
      </p:sp>
      <p:sp>
        <p:nvSpPr>
          <p:cNvPr id="21" name="Text 16"/>
          <p:cNvSpPr/>
          <p:nvPr/>
        </p:nvSpPr>
        <p:spPr>
          <a:xfrm>
            <a:off x="548640" y="4114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are honest, documented substitutions — same discipline as the embedding-model decision (slide 6):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448056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Store: MongoDB has no installable server package in this build sandbox → SQLite, document-shaped schema, same functional role.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Generation: full LLM-generated fixes need an LLM API this sandbox can't reach this sprint → template-based generator for 7 CWE categories with a mechanical fix pattern; the other 18 explicitly return "no template" rather than a guess.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48640" y="5623560"/>
            <a:ext cx="11109960" cy="566928"/>
          </a:xfrm>
          <a:prstGeom prst="roundRect">
            <a:avLst>
              <a:gd name="adj" fmla="val 11290"/>
            </a:avLst>
          </a:prstGeom>
          <a:solidFill>
            <a:srgbClr val="EAF3F8"/>
          </a:solidFill>
          <a:ln/>
        </p:spPr>
      </p:sp>
      <p:sp>
        <p:nvSpPr>
          <p:cNvPr id="24" name="Text 19"/>
          <p:cNvSpPr/>
          <p:nvPr/>
        </p:nvSpPr>
        <p:spPr>
          <a:xfrm>
            <a:off x="777240" y="562356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findings, not verified vulnerabilities: </a:t>
            </a:r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score/store/remediation above treats the nearest KB match as if it were a true positive — confirmation is the LLM Security Analysis module (Review 4).</a:t>
            </a:r>
            <a:endParaRPr lang="en-US" sz="1080" dirty="0"/>
          </a:p>
        </p:txBody>
      </p:sp>
      <p:sp>
        <p:nvSpPr>
          <p:cNvPr id="25" name="Text 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RESULTS SO FAR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Real-Repository Run: OWASP/NodeGoat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public, intentionally-vulnerable Node.js reference application — small enough to inspect by hand, well known enough for an external sanity check.</a:t>
            </a:r>
            <a:endParaRPr lang="en-US" sz="1200" dirty="0"/>
          </a:p>
        </p:txBody>
      </p:sp>
      <p:pic>
        <p:nvPicPr>
          <p:cNvPr id="5" name="Image 0" descr="../results/ingestion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5577840" cy="4206240"/>
          </a:xfrm>
          <a:prstGeom prst="rect">
            <a:avLst/>
          </a:prstGeom>
        </p:spPr>
      </p:pic>
      <p:pic>
        <p:nvPicPr>
          <p:cNvPr id="6" name="Image 1" descr="../results/chunking_tim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65960"/>
            <a:ext cx="5577840" cy="4206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RESULTS SO FAR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Retrieval-Accuracy Benchmark (22 Labeled Snippets)</a:t>
            </a:r>
            <a:endParaRPr lang="en-US" sz="2800" dirty="0"/>
          </a:p>
        </p:txBody>
      </p:sp>
      <p:pic>
        <p:nvPicPr>
          <p:cNvPr id="4" name="Image 0" descr="../results/benchmark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94360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371600"/>
            <a:ext cx="4892040" cy="1920240"/>
          </a:xfrm>
          <a:prstGeom prst="roundRect">
            <a:avLst>
              <a:gd name="adj" fmla="val 3810"/>
            </a:avLst>
          </a:prstGeom>
          <a:solidFill>
            <a:srgbClr val="EAF3F8"/>
          </a:solidFill>
          <a:ln/>
        </p:spPr>
      </p:sp>
      <p:sp>
        <p:nvSpPr>
          <p:cNvPr id="6" name="Text 3"/>
          <p:cNvSpPr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63.6% / 72.7%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995160" y="214884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/ Top-3 retrieval accuracy against ground-truth CWE labels, using the IDF-weighted embedding actually shipped in the pipeline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766560" y="3520440"/>
            <a:ext cx="4892040" cy="2011680"/>
          </a:xfrm>
          <a:prstGeom prst="roundRect">
            <a:avLst>
              <a:gd name="adj" fmla="val 3636"/>
            </a:avLst>
          </a:prstGeom>
          <a:solidFill>
            <a:srgbClr val="FBEDE8"/>
          </a:solidFill>
          <a:ln/>
        </p:spPr>
      </p:sp>
      <p:sp>
        <p:nvSpPr>
          <p:cNvPr id="9" name="Text 6"/>
          <p:cNvSpPr/>
          <p:nvPr/>
        </p:nvSpPr>
        <p:spPr>
          <a:xfrm>
            <a:off x="6995160" y="365760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still struggles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4023360"/>
            <a:ext cx="4480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Closely related access-control weaknesses (Missing/Incorrect Authorization, IDOR, Broken Access Control) — these differ on facts a word-frequency model can't see (is a check present at all, or present but wrong?). This is the specific, motivated target for the Review 4 LLM reasoning step, and the same family drives most of this sprint's low_confidence severity flags (slide 8).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RESULTS SO FAR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1A214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3774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8FD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/ 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src/tests/ (4 files, 1 per module group)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43400" y="182880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Chunkers, tokenizer, embeddings, FAISS round-trip, KB load &amp; SQLi retrieval (7 tests, unchanged)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band/score lookup, margin-threshold downgrade, confidence flagging (10 tests, new)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Store: schema, insert/query, filtering, per-severity counts, per-repo delete (7 tests, new)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✓"/>
            </a:pPr>
            <a:r>
              <a:rPr lang="en-US" sz="125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Remediation: 7 templated CWEs produce real before/after diffs; unknown/no-template CWEs return None (8 tests, new)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Openly Stated — and the Plan for Review 4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4206240"/>
        </p:xfrm>
        <a:graphic>
          <a:graphicData uri="http://schemas.openxmlformats.org/drawingml/2006/table">
            <a:tbl>
              <a:tblPr/>
              <a:tblGrid>
                <a:gridCol w="5486400"/>
                <a:gridCol w="5623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(today)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Review 4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GloVe embedding is a documented substitute for a code-specialised transformer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in once model hosting/API access is available; re-run the same benchmark to measure the gain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Access-control CWE family is hard to separate by retrieval alone, and drives most low-confidence severity flags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the LLM reasoning step specifically for this weakness 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 templates cover 7 of 25 CWE categories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 categories mostly need LLM reasoning, not more templates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findings are candidates (nearest KB match), not yet LLM-confirmed vulnerabilities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LLM Security Analysis as the confirmation step — top Review 4 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4 (12–16 Oct 2026): LLM Security Analysis (top priority) → embedding-model swap → minimal dashboard over the Findings Store.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BCSE497J · Project I · Review 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_FaShiel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12801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0" y="32004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3749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 modules implemented · 63.6% / 72.7% retrieval accuracy · 32 / 32 tests passing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Secure Code Analysis and Vulnerability Detection using RAG  ·  BCSE497J Project I  ·  VIT Chennai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2026-09-14T16:23:04Z</dcterms:created>
  <dcterms:modified xsi:type="dcterms:W3CDTF">2026-09-14T16:23:04Z</dcterms:modified>
</cp:coreProperties>
</file>