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97280"/>
            <a:ext cx="1188720" cy="82296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97280"/>
            <a:ext cx="640080" cy="329184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144000" y="1097280"/>
            <a:ext cx="548640" cy="420624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097280"/>
            <a:ext cx="1828800" cy="402336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144000" y="1920240"/>
            <a:ext cx="1737360" cy="338328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1920240"/>
            <a:ext cx="640080" cy="320040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8778240" y="2377440"/>
            <a:ext cx="548640" cy="137160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0" y="2377440"/>
            <a:ext cx="1005840" cy="201168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8778240" y="3291840"/>
            <a:ext cx="2560320" cy="45720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0332720" y="3291840"/>
            <a:ext cx="1005840" cy="109728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3749040"/>
            <a:ext cx="365760" cy="155448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3749040"/>
            <a:ext cx="2743200" cy="137160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9144000" y="4389120"/>
            <a:ext cx="1188720" cy="914400"/>
          </a:xfrm>
          <a:prstGeom prst="line">
            <a:avLst/>
          </a:prstGeom>
          <a:noFill/>
          <a:ln w="12700">
            <a:solidFill>
              <a:srgbClr val="3A5A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10344" y="101498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9064" y="1837944"/>
            <a:ext cx="164592" cy="164592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17" name="Shape 15"/>
          <p:cNvSpPr/>
          <p:nvPr/>
        </p:nvSpPr>
        <p:spPr>
          <a:xfrm>
            <a:off x="9244584" y="2295144"/>
            <a:ext cx="164592" cy="164592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56264" y="320954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8695944" y="3666744"/>
            <a:ext cx="164592" cy="164592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50424" y="4306824"/>
            <a:ext cx="164592" cy="164592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21" name="Shape 19"/>
          <p:cNvSpPr/>
          <p:nvPr/>
        </p:nvSpPr>
        <p:spPr>
          <a:xfrm>
            <a:off x="9061704" y="522122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9144" y="5038344"/>
            <a:ext cx="164592" cy="164592"/>
          </a:xfrm>
          <a:prstGeom prst="ellipse">
            <a:avLst/>
          </a:prstGeom>
          <a:solidFill>
            <a:srgbClr val="3A5A8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6400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  ·  SCHOOL OF COMPUTER SCIENCE AND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1371600"/>
            <a:ext cx="8778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Secure Code Analysis and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Detection using Retrieval-</a:t>
            </a:r>
            <a:endParaRPr lang="en-US" sz="3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 Generation (RAG)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— Project I   |   Review 2 (Panel Review)   |   19 August 2026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7863840" cy="18288"/>
          </a:xfrm>
          <a:prstGeom prst="rect">
            <a:avLst/>
          </a:prstGeom>
          <a:solidFill>
            <a:srgbClr val="3A5A8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66344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Sivakumar — 23BCE5119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Udhay Anand Pandiyan — 23BCE1793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4864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Jenila Livingston L 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89788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B.Tech.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7190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Domain &amp; Motivation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212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tools fall short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171907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52360" y="17190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2212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recent papers (2024–2026) across 4 themes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13639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136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630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Project I will deliver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971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313639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52360" y="3136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36301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10-stage RAG pipeline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55371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5537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Modules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0474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43891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9FB2CC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29400" y="455371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52360" y="45537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Risks &amp; Work Plan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52360" y="50474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risk mitigation, review timeline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DOMAIN &amp;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software applications grow more complex, ensuring code security has become a critical challenge.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static analysis tools generate high volumes of false positives with limited, template-based explanations. Purely LLM-based reviewers hallucinate or rely on superficial patterns when ungrounded.
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system that detects vulnerabilities, explains them against recognised standards (OWASP Top 10, CWE), scores severity defensibly, and recommends verifiable fixes.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78040" y="1600200"/>
            <a:ext cx="4480560" cy="1298448"/>
          </a:xfrm>
          <a:prstGeom prst="roundRect">
            <a:avLst>
              <a:gd name="adj" fmla="val 5634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70992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76–90%+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06640" y="22585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on a production SAST tool at industry scale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78040" y="3081528"/>
            <a:ext cx="4480560" cy="1298448"/>
          </a:xfrm>
          <a:prstGeom prst="roundRect">
            <a:avLst>
              <a:gd name="adj" fmla="val 5634"/>
            </a:avLst>
          </a:prstGeom>
          <a:solidFill>
            <a:srgbClr val="EAF3F8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319125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 days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06640" y="373989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CVSS severity-scoring delay in 2023 (up from 2.7 days in 2019)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78040" y="4562856"/>
            <a:ext cx="4480560" cy="1298448"/>
          </a:xfrm>
          <a:prstGeom prst="roundRect">
            <a:avLst>
              <a:gd name="adj" fmla="val 5634"/>
            </a:avLst>
          </a:prstGeom>
          <a:solidFill>
            <a:srgbClr val="EA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467258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0.06–0.14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06640" y="522122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accuracy of an ungrounded LLM distinguishing vulnerable vs. patched 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5989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Tencent industry FP study (arXiv:2601.18844); AutoCVSS (EMNLP 2025 Industry); Vul-RAG (arXiv:2406.11147)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DOMAIN &amp;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Review Code — and Why We Combine Two of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EAF3F8"/>
          </a:solidFill>
          <a:ln/>
        </p:spPr>
      </p:sp>
      <p:pic>
        <p:nvPicPr>
          <p:cNvPr id="5" name="Image 0" descr="icon_Fa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0116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8803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Analysis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2971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Rule/signature based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76–90%+ false positives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contextual explanation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16552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EAF3F8"/>
          </a:solidFill>
          <a:ln/>
        </p:spPr>
      </p:sp>
      <p:pic>
        <p:nvPicPr>
          <p:cNvPr id="9" name="Image 1" descr="icon_Fa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01168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432" y="28803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Alone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(Ungrounded)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36592" y="3749040"/>
            <a:ext cx="2971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contextual reasoning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 root cause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0.06–0.14 pair accuracy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84464" y="169164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7406B">
                <a:alpha val="40000"/>
              </a:srgbClr>
            </a:outerShdw>
          </a:effectLst>
        </p:spPr>
      </p:sp>
      <p:pic>
        <p:nvPicPr>
          <p:cNvPr id="13" name="Image 2" descr="icon_FaShield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644" y="201168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67344" y="28803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RAG-Grounded LLM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(Proposed)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604504" y="3749040"/>
            <a:ext cx="2971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repo + OWASP/CWE context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standards-referenced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severity, not LLM-only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OBJECTIVES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Project I Will Deliver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4922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 GitHub repo &amp; chunk code at function/class level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 and store in a vector database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OWASP Top 10 + CWE knowledge base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dual-context RAG retrieval (repo + standards)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severity with a transparent, CVSS-inspired rule layer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remediation suggestions with before/after diffs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on an interactive, filterable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60920" y="155448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EAF3F8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(Project 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0" y="205740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· literature study · architecture &amp; module design · tech-stack selection · KB &amp; severity-rubric design · Python/JS prototype scope · preliminary work plan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60920" y="4069080"/>
            <a:ext cx="4297680" cy="18288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4206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 Project II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45720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production support · CI/CD &amp; IDE integration · PR-level scanning · historical trend &amp; compliance reporting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Landscape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251960"/>
          </a:xfrm>
          <a:prstGeom prst="roundRect">
            <a:avLst>
              <a:gd name="adj" fmla="val 277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reviewed in a 2025 systematic literature review on LLM-based vulnerability detection (Jan 2020 – Jun 2025)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studies published in 2024 alone — the field is moving fast</a:t>
            </a:r>
            <a:endParaRPr lang="en-US" sz="1100" dirty="0"/>
          </a:p>
        </p:txBody>
      </p:sp>
      <p:pic>
        <p:nvPicPr>
          <p:cNvPr id="9" name="Image 0" descr="icon_Fa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6459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0" y="1581912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via RAG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1947672"/>
            <a:ext cx="6720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LLM judgment in retrieved knowledge instead of raw pattern-matching (Vul-RAG, RepoAudit, VulnGym)</a:t>
            </a:r>
            <a:endParaRPr lang="en-US" sz="1100" dirty="0"/>
          </a:p>
        </p:txBody>
      </p:sp>
      <p:pic>
        <p:nvPicPr>
          <p:cNvPr id="12" name="Image 1" descr="icon_Fa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743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2679192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Reduction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3044952"/>
            <a:ext cx="6720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LLMs with static-analyzer output to cut alert fatigue (ZeroFalse, Tencent study, benchmark comparisons)</a:t>
            </a:r>
            <a:endParaRPr lang="en-US" sz="1100" dirty="0"/>
          </a:p>
        </p:txBody>
      </p:sp>
      <p:pic>
        <p:nvPicPr>
          <p:cNvPr id="15" name="Image 2" descr="icon_Fa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8404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3776472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/ CVSS Scoring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846320" y="4142232"/>
            <a:ext cx="6720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defensible severity from CVE text or code context (AutoCVSS, ML-based CVSS prioritisation)</a:t>
            </a:r>
            <a:endParaRPr lang="en-US" sz="1100" dirty="0"/>
          </a:p>
        </p:txBody>
      </p:sp>
      <p:pic>
        <p:nvPicPr>
          <p:cNvPr id="18" name="Image 3" descr="icon_Fa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49377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46320" y="4873752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Repair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46320" y="5239512"/>
            <a:ext cx="6720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and validating secure-code fixes, not just flags (patch-validation feedback, code-LM repair)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Papers (8 of 20 Reviewed)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448056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611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Vul-RAG (ACM TOSEM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Knowledge-level RAG over CVE cause/fix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+16–24% pair accuracy; found real 0-day-class bugs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ZeroFalse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adjudication over CodeQL/SARIF + CWE rubrics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up to 0.955 on real-world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Tencent Industry Study (2026)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LLM + static analysis (LLM4PFA)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94–98% false positives eliminated, &lt;$0.12/alarm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vs. SAST Benchmark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Head-to-head: GPT-4.1/Mistral/DeepSeek vs. SonarQube/CodeQL/Snyk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F1 0.75–0.80 vs. static tools 0.26–0.55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AutoCVSS (EMNLP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CVSS-metric prediction, few-shot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baselines by up to 33pp in low-resource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SLR on LLM Vuln. Detection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Meta-analysis of 227 studies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recurring gaps: interpretability, deployment, eval standardisation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RepoAudit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Multi-agent, inter-procedural data-flow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 confirmed bugs found in open-source 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Repair Case Study (ACM AIware 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+ patch-validation 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feedback improves patch correctness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 Target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3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reviewed system combines all four of the following — this is the specific gap the proposed system addresses: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EAF3F8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2560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Repository-scale ingestion &amp; chunking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isolated function snippets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3317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EA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4439412" y="2560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39412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93592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grounded in external standards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93592" y="42976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+ CWE — not only historical CVE pairs or raw analyzer output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23317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EA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301484" y="2560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01484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55664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rule-based severity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55664" y="42976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CVSS-inspired scoring, not LLM judgment alone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34856" y="233172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EA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3556" y="2560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3556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17736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dashboard with verifiable fixes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17736" y="429768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standards-referenced findings, developer-reviewed remediation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PROPOSED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RAG-Based Detection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61058" cy="3108960"/>
          </a:xfrm>
          <a:prstGeom prst="roundRect">
            <a:avLst>
              <a:gd name="adj" fmla="val 4437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304288"/>
            <a:ext cx="1786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816352"/>
            <a:ext cx="17867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Chunk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178673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repo, parse with tree-sitter, split into function/class-level chunks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9698" y="35204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10866" y="2194560"/>
            <a:ext cx="2061058" cy="3108960"/>
          </a:xfrm>
          <a:prstGeom prst="roundRect">
            <a:avLst>
              <a:gd name="adj" fmla="val 4437"/>
            </a:avLst>
          </a:prstGeom>
          <a:solidFill>
            <a:srgbClr val="EAF3F8"/>
          </a:solidFill>
          <a:ln/>
        </p:spPr>
      </p:sp>
      <p:sp>
        <p:nvSpPr>
          <p:cNvPr id="10" name="Text 8"/>
          <p:cNvSpPr/>
          <p:nvPr/>
        </p:nvSpPr>
        <p:spPr>
          <a:xfrm>
            <a:off x="2948026" y="2304288"/>
            <a:ext cx="1786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48026" y="2816352"/>
            <a:ext cx="17867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Index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48026" y="3566160"/>
            <a:ext cx="178673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code chunks + OWASP/CWE docs into two vector collections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71923" y="35204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73091" y="2194560"/>
            <a:ext cx="2061058" cy="3108960"/>
          </a:xfrm>
          <a:prstGeom prst="roundRect">
            <a:avLst>
              <a:gd name="adj" fmla="val 4437"/>
            </a:avLst>
          </a:prstGeom>
          <a:solidFill>
            <a:srgbClr val="EA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5210251" y="2304288"/>
            <a:ext cx="1786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0251" y="2816352"/>
            <a:ext cx="17867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Dual-Context Retrieval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10251" y="3566160"/>
            <a:ext cx="178673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related repo code AND relevant security-standard entries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4149" y="35204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35317" y="2194560"/>
            <a:ext cx="2061058" cy="3108960"/>
          </a:xfrm>
          <a:prstGeom prst="roundRect">
            <a:avLst>
              <a:gd name="adj" fmla="val 4437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472477" y="2304288"/>
            <a:ext cx="1786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72477" y="2816352"/>
            <a:ext cx="17867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72477" y="3566160"/>
            <a:ext cx="178673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CWE-aware structured prompt → verdict, mapped CWE-ID, explanation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96374" y="35204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97542" y="2194560"/>
            <a:ext cx="2061058" cy="3108960"/>
          </a:xfrm>
          <a:prstGeom prst="roundRect">
            <a:avLst>
              <a:gd name="adj" fmla="val 4437"/>
            </a:avLst>
          </a:prstGeom>
          <a:solidFill>
            <a:srgbClr val="EAF3F8"/>
          </a:solidFill>
          <a:ln/>
        </p:spPr>
      </p:sp>
      <p:sp>
        <p:nvSpPr>
          <p:cNvPr id="25" name="Text 23"/>
          <p:cNvSpPr/>
          <p:nvPr/>
        </p:nvSpPr>
        <p:spPr>
          <a:xfrm>
            <a:off x="9734702" y="2304288"/>
            <a:ext cx="1786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34702" y="2816352"/>
            <a:ext cx="17867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Remediate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734702" y="3566160"/>
            <a:ext cx="178673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CVSS-inspired severity + before/after fix suggestion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6–10 (severity detail, dashboard) are elaborated in the supporting report, Chapter 3.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000" dirty="0"/>
          </a:p>
        </p:txBody>
      </p:sp>
      <p:pic>
        <p:nvPicPr>
          <p:cNvPr id="4" name="Image 0" descr="../design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417320"/>
            <a:ext cx="640080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MODULE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Responsibilities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45720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51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Design 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Ingestion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Clone &amp; pre-filter GitHub repo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clone; exclude vendored/binary paths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 &amp; Chunking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source into logical units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Tree-sitter, function/class-level (not fixed windows)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Vectorise code &amp; KB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Code-specialised model; separate repo vs. KB collections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Knowledge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OWASP/CWE as retrievable knowledge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once, versioned, chunked by weakness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Retrieval Orchestrator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dual context per chunk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 from both repo index and KB, merged into one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Security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Classify, map to CWE, explain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CWE-specific structured prompt/rubric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Scoring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a defensible severity 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Rule-based, CVSS-inspired — not LLM-only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 fix + before/after diff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Developer-reviewed, never auto-applied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Visualise &amp; triage findings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Search, filter by severity/CWE/file, drill-down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8"/>
          </a:solidFill>
          <a:ln/>
        </p:spPr>
      </p:sp>
      <p:pic>
        <p:nvPicPr>
          <p:cNvPr id="5" name="Image 0" descr="icon_Fa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928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HTML, CSS, JavaScript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5112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8"/>
          </a:solidFill>
          <a:ln/>
        </p:spPr>
      </p:sp>
      <p:pic>
        <p:nvPicPr>
          <p:cNvPr id="9" name="Image 1" descr="icon_Fa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93792" y="18928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53712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01584" y="169164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8"/>
          </a:solidFill>
          <a:ln/>
        </p:spPr>
      </p:sp>
      <p:pic>
        <p:nvPicPr>
          <p:cNvPr id="13" name="Image 2" descr="icon_Fa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9202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70264" y="18928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330184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(scans, findings, users)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8"/>
          </a:solidFill>
          <a:ln/>
        </p:spPr>
      </p:sp>
      <p:pic>
        <p:nvPicPr>
          <p:cNvPr id="17" name="Image 3" descr="icon_Fa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605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1330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77240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· ChromaDB · Pinecone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25112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8"/>
          </a:solidFill>
          <a:ln/>
        </p:spPr>
      </p:sp>
      <p:pic>
        <p:nvPicPr>
          <p:cNvPr id="21" name="Image 4" descr="icon_Fa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16052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93792" y="41330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Components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53712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code-specialised embeddings · RAG orchestration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101584" y="39319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8"/>
          </a:solidFill>
          <a:ln/>
        </p:spPr>
      </p:sp>
      <p:pic>
        <p:nvPicPr>
          <p:cNvPr id="25" name="Image 5" descr="icon_FaShieldA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416052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970264" y="41330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Standards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330184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· CWE · CVSS-inspired scoring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FACTOR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3000" dirty="0"/>
          </a:p>
        </p:txBody>
      </p:sp>
      <p:pic>
        <p:nvPicPr>
          <p:cNvPr id="4" name="Image 0" descr="icon_Fa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77440" y="1874520"/>
            <a:ext cx="9144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knowledge sources, one transparent scorer.
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grounded simultaneously in the target repository's own code (context) and an external, standards-based security corpus — OWASP Top 10 + CWE (grounding) — paired with a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CVSS-inspired severity layer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does not depend solely on LLM judgment.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377440" y="448056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directly by two literature findings: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Vul-RAG shows knowledge-level RAG substantially outperforms ungrounded LLM judgment; AutoCVSS shows pure-LLM severity scoring is not consistently reliable versus rule-assisted approaches.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FEASIBILITY &amp;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Feasibility, Risks &amp; Ethics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306324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526280"/>
              </a:tblGrid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hallucinated/superficial findings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findings undermine trust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RAG grounding in OWASP/CWE KB; confidence shown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false positives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fatigue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CWE-specific structured prompting; severity module deprioritises low-confidence findings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repos exceed time/cost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UX, high LLM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Chunk-level batching, embedding cache, configurable filters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fixes applied blindly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introduce new bugs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always shown as a diff for manual developer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Analysing code without consent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Ethical/legal concern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Public-repo scope only; explicit user submission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4632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every core technique (chunking, embedding retrieval, LLM classification) is individually validated at scale in the reviewed literature — the main risk is integration, not novelty.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WORK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Plan Aligned to the Review Schedule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3017520"/>
            <a:ext cx="9601200" cy="0"/>
          </a:xfrm>
          <a:prstGeom prst="line">
            <a:avLst/>
          </a:prstGeom>
          <a:noFill/>
          <a:ln w="25400">
            <a:solidFill>
              <a:srgbClr val="C7D6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2889504"/>
            <a:ext cx="256032" cy="25603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Aug 2026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9842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literature, architecture &amp; module design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52544" y="2889504"/>
            <a:ext cx="256032" cy="25603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3630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 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390448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chunking + embedding pipeline; KB built; ~50% modules working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52944" y="2889504"/>
            <a:ext cx="256032" cy="25603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Report / Review 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709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Oct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0" y="19842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 analysis + severity scoring integrated end-to-end; initial dashboard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753344" y="2889504"/>
            <a:ext cx="256032" cy="256032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5 (Final)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45752" y="3630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Oct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262872" y="390448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generation, dashboard polish, testing, final report &amp; demo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BCSE497J · Project I · Review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FaShield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603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Secure Code Analysis and Vulnerability Detection using RAG  ·  BCSE497J Project I  ·  VIT Chennai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2026-08-18T08:30:05Z</dcterms:created>
  <dcterms:modified xsi:type="dcterms:W3CDTF">2026-08-18T08:30:05Z</dcterms:modified>
</cp:coreProperties>
</file>